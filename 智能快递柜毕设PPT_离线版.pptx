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各位评委好，我展示的项目是基于STM32的智能快递柜系统设计与实现。本项目以STM32F407VE为主控，集成了语音识别、语音合成、触摸交互、电磁锁控制，实现了投件、取件、查件和智能语音交互的完整功能。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项目背景。传统快递柜存在三个痛点：一是取件体验差，只有取件码输入，没有语音引导；二是管理成本高，投件查件只能在柜机上操作，无法远程管理；三是功能单一，不能回答用户的快递咨询。针对这些痛点，本项目提出三个解决方案：语音全流程交互、双模态输入交互、并发状态机设计，全部在柜机本地完成，无需联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系统采用主控与外设协同架构。中心是STM32F407VE主控，Cortex-M4内核168MHz，512KB Flash和192KB RAM。左侧外接四类外设：LD3320语音识别通过USART2通信，SYN6288语音合成通过UART4通信，4路电磁锁加门磁反馈通过GPIO直驱和PCF8574输入，LCD触摸屏ST7796S通过软件SPI驱动。右侧外接：XPT2046触摸芯片独立软件SPI总线，PCF8574 IO扩展通过I2C1通信，继电器驱动4路GPIO，USART1调试串口。所有外设采用非阻塞轮询调度，确保实时响应。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硬件选型总览表。主控采用STM32F407VE，Cortex-M4内核168MHz。外围模块包括：LD3320语音识别通过USART2接收识别结果，SYN6288通过UART4做语音合成，ST7796S显示屏和XPT2046触摸屏都用软件SPI，PCF8574通过I2C扩展IO做门磁反馈，4路电磁锁用GPIO直接驱动，电源采用12V转5V转3.3V三级供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主控采用STM32F407VE，Cortex-M4内核168MHz带FPU，512KB Flash和192KB RAM，足够同时驱动9个外设模块。软件采用非阻塞状态机加环形缓冲中断，主循环5ms Tick调度。电源采用三级设计：12V开关电源给电磁锁供电，经LM2596降到5V给LCD、语音和触摸模块，再经AMS1117降到3.3V给MCU和PCF8574。电磁锁独立供电避免启动时拉低MCU电压，LCD必须5V供电因为板载74HC245需要5V。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语音交互采用双模块设计。LD3320语音识别模块板载STC11单片机，识别算法运行在STC11中，STM32通过USART2只接收识别结果，支持唤醒词、语音指令和数字识别。SYN6288语音合成通过UART4接收文本，自动转换为语音输出，外接扬声器播报。语音全流程是：说小英唤醒，语音输入指令，LD3320识别，主控处理，SYN6288播报结果。优化方面用洞代替零避免混淆，多音字用拼音替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锁控部分采用4路12V电磁锁，NO常开型，通电开门断电关门。驱动方式是STM32 GPIO直驱继电器模块，PB8/PB9/PB12/PB13，低电平触发。门磁反馈通过PCF8574的P4到P7输入，检测每扇门的开关状态。安全设计有三重：第一是通电时限保护，2秒自动断电，编译期强制检查小于3秒防止线圈烧毁；第二是四路互斥，同一时间只允许一个锁通电；第三是I2C通信容错，写入失败重试3次，读取超时降级处理。每柜门用独立状态机数组追踪，支持并发取件不串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人机交互采用4寸LCD触摸屏。显示屏是ST7796S控制器，480x320分辨率，RGB565色，用软件SPI驱动，注意VCC必须5V供电因为板载74HC245电平转换需要5V。触摸屏是XPT2046电阻触摸，独立软件SPI总线。界面功能包括：主菜单显示4格口状态和三大功能按钮，取件码输入用4x3数字软键盘支持6位码输入和语音注入，状态栏显示格口状态和时间，交互方式支持触摸加语音双输入，结果语音加屏幕双反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业务流程分投件和取件两条线，全部在柜机本地完成，无需云端。投件流程是：工作人员在柜机端通过触摸或语音输入手机尾号，本地生成6位取件码并持久化到Flash，电磁锁开门2秒自动断电，放入快递关门后门磁确认，状态更新为占用。取件流程是：用户通过触摸软键盘或语音数字输入取件码，本地校验有效性并匹配对应柜口号，电磁锁开门并语音播报引导，取走快递关门后自动清码，状态更新为空闲。关键设计是每柜门独立状态机追踪，门磁作为权威依据，取件码本地持久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第一个调试案例是LCD显示数据截断。现象是ST7796S 4寸屏VCC接3.3V时，上半部分正常下半部分花屏。根因是板载74HC245电平转换芯片需要5V供电，3.3V时输出高电平仅2.8V，低于ST7796S输入高电平阈值3.5V，导致数据信号被截断。解决方案是VCC改接5V，74HC245输出4.5V满足阈值，全屏显示正常。经验总结是硬件调试先查供电，电平转换不可忽视，模块datasheet必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调试案例是STC11模块烧录后不运行。现象是烧录成功但LED不闪、串口无输出。排查走了4步弯路：先怀疑代码bug用最简程序测试，再怀疑晶振改内部IRC，然后怀疑TX/RX接反交换接线，最后测量供电才发现适配器输出5V但模块端只有3.3V。根因是USB适配器电流不足，LD3320加STC11满载需要500mA以上，启动瞬间压降导致STC11反复复位。解决方案是改用独立5V 1A电源，模块端稳定4.9V。经验是硬件调试先量电压再查代码，电源电流要留2倍余量。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调试案例是4柜格串柜状态覆盖。现象是用户A取box2未关门时用户B取box3，box3关门事件错误结算box2，导致box2永久卡死。根因是用单一全局变量追踪柜门状态，4个柜格共用，第二个用户取件时覆盖旧柜门状态。解决方案是将所有状态变量改为BOX_COUNT数组，每柜独立维护门阶段、流程类型、消抖计数器和开门时刻，Door_Tick遍历每柜独立判断。经验是多实例并发场景下单变量状态机必然失效，必须数组化，且单用户测试通过不等于系统正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测试页面展示实物照片和功能测试结果。左侧是整体系统照片和LCD加语音模块照片，右侧是功能测试表格，包括投件50次100%通过、触摸取件50次100%、语音取件30次93%、并发取件20次100%、查件30次100%、超时报警10次100%、语音合成20次100%。测试结论是核心业务功能全部通过，语音交互受环境噪声影响约93%，系统整体稳定满足毕设演示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创新点与总结页面。四个创新点：双模态人机交互用LD3320语音识别加XPT2046触摸双输入，SYN6288合成加LCD显示双反馈；并发状态机用每柜独立BOX_COUNT数组支持并发取件不串柜；本地持久化存储用内部Flash存取取件码，断电不丢失；非阻塞调度架构用主循环轮询加中断入队，9个外设并行响应。系统总结分硬件层、固件层、应用层和完成度，三大核心功能全部实现并通过测试，满足毕设答辩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页是总结与展望。已完成工作包括硬件系统、固件开发、应用功能和调试优化四大块。未来改进方向包括规模化扩展格口、智能化增加人脸识别、信息化完善数据管理和统计分析、工程化增加OTA升级和看门狗，当前版本为纯本地离线运行。结尾感谢评委老师聆听指导。技术工程场景不使用独立的谢谢页，而是做总结展望加简短致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6604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基于STM32的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0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</a:t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0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设计与实现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4318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语音交互 · 触摸操作 · 智能锁控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4323" flipH="false" flipV="false">
            <a:off x="762013" y="501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5207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STM32F407VE · LD3320 · SYN6288 · ST7796S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快递末端配送痛点与本项目方案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传统快递柜的三大痛点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4826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取件体验差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：仅支持取件码输入，老人、视障人群操作困难，无语音引导。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管理成本高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：投件、查件依赖柜机本地操作，工作人员无法远程管理，数据不同步。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功能单一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：仅能存取件，无法回答快递咨询、路线指引等常见问题，交互不智能。</a:t>
            </a:r>
          </a:p>
        </p:txBody>
      </p:sp>
      <p:cxnSp>
        <p:nvCxnSpPr>
          <p:cNvPr name="Connector 7" id="7"/>
          <p:cNvCxnSpPr/>
          <p:nvPr/>
        </p:nvCxnSpPr>
        <p:spPr>
          <a:xfrm rot="5389257" flipH="false" flipV="false">
            <a:off x="4064000" y="3422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604000" y="1397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本项目的解决方案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1905000"/>
            <a:ext cx="4826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语音全流程交互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：LD3320语音识别 + SYN6288语音合成，支持唤醒词、语音输入取件码、操作引导播报。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双模态输入交互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：XPT2046 电阻触摸 + LD3320 语音识别，6 位取件码软键盘，支持语音数字输入，"零"用"洞"避免与 "6" 混淆。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并发状态机设计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：每柜门独立状态数组，4 格口并行追踪不串柜，门磁反馈作权威依据，超时未关门自动报警并清码。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02 / 15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系统总体架构：主控与外设协同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10668000" cy="4826000"/>
          </a:xfrm>
          <a:prstGeom prst="roundRect">
            <a:avLst>
              <a:gd name="adj" fmla="val 1578"/>
            </a:avLst>
          </a:prstGeom>
          <a:solidFill>
            <a:srgbClr val="003087">
              <a:alpha val="6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4478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柜机硬件层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953000" y="27940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953000" y="3048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STM32F407VE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主控 · Cortex-M4 168MHz</a:t>
            </a:r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512KB Flash / 192KB RAM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1778000"/>
            <a:ext cx="1778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1879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LD3320 语音识别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USART2 · 9600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2667000"/>
            <a:ext cx="1778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2768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SYN6288 语音合成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UART4 · 9600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556000"/>
            <a:ext cx="1778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3657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4路电磁锁 + 门磁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GPIO直驱 · PCF8574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445000"/>
            <a:ext cx="1778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546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LCD触摸 ST7796S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软件SPI · 480x320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398000" y="1778000"/>
            <a:ext cx="1778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398000" y="1879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XPT2046 触摸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软件SPI · PE7/8/9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98000" y="2667000"/>
            <a:ext cx="1778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398000" y="2768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PCF8574 IO扩展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I2C1 · 30kHz · 0x20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398000" y="3556000"/>
            <a:ext cx="1778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98000" y="3657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继电器驱动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PB8/9/12/13 · 低电平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398000" y="4445000"/>
            <a:ext cx="1778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398000" y="4546600"/>
            <a:ext cx="177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USART1 调试串口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PA9 · 115200</a:t>
            </a:r>
          </a:p>
        </p:txBody>
      </p:sp>
      <p:cxnSp>
        <p:nvCxnSpPr>
          <p:cNvPr name="Connector 25" id="25"/>
          <p:cNvCxnSpPr/>
          <p:nvPr/>
        </p:nvCxnSpPr>
        <p:spPr>
          <a:xfrm rot="1575816" flipH="false" flipV="false">
            <a:off x="2666597" y="2628907"/>
            <a:ext cx="24138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26" id="26"/>
          <p:cNvCxnSpPr/>
          <p:nvPr/>
        </p:nvCxnSpPr>
        <p:spPr>
          <a:xfrm rot="678211" flipH="false" flipV="false">
            <a:off x="2771377" y="3200404"/>
            <a:ext cx="220428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27" id="27"/>
          <p:cNvCxnSpPr/>
          <p:nvPr/>
        </p:nvCxnSpPr>
        <p:spPr>
          <a:xfrm rot="-322690" flipH="false" flipV="false">
            <a:off x="2789824" y="3771898"/>
            <a:ext cx="216738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28" id="28"/>
          <p:cNvCxnSpPr/>
          <p:nvPr/>
        </p:nvCxnSpPr>
        <p:spPr>
          <a:xfrm rot="-1274358" flipH="false" flipV="false">
            <a:off x="2717799" y="4343394"/>
            <a:ext cx="23114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29" id="29"/>
          <p:cNvCxnSpPr/>
          <p:nvPr/>
        </p:nvCxnSpPr>
        <p:spPr>
          <a:xfrm rot="-1611990" flipH="false" flipV="false">
            <a:off x="7111597" y="2628893"/>
            <a:ext cx="24138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30" id="30"/>
          <p:cNvCxnSpPr/>
          <p:nvPr/>
        </p:nvCxnSpPr>
        <p:spPr>
          <a:xfrm rot="-717824" flipH="false" flipV="false">
            <a:off x="7216377" y="3200396"/>
            <a:ext cx="220428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31" id="31"/>
          <p:cNvCxnSpPr/>
          <p:nvPr/>
        </p:nvCxnSpPr>
        <p:spPr>
          <a:xfrm rot="282403" flipH="false" flipV="false">
            <a:off x="7234824" y="3771902"/>
            <a:ext cx="216738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32" id="32"/>
          <p:cNvCxnSpPr/>
          <p:nvPr/>
        </p:nvCxnSpPr>
        <p:spPr>
          <a:xfrm rot="1236581" flipH="false" flipV="false">
            <a:off x="7162799" y="4343406"/>
            <a:ext cx="23114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03 / 15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硬件选型与接口分配总览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371600"/>
          <a:ext cx="10668000" cy="482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1905000"/>
                <a:gridCol w="3556000"/>
                <a:gridCol w="3810000"/>
              </a:tblGrid>
              <a:tr h="558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型号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通信接口 / 引脚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主要作用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01C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STM32F407VE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Cortex-M4 · 168MHz · 512KB Flash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系统控制、状态机调度、数据处理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01C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语音识别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LD3320+STC11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USART2 PA2/PA3 · 9600 · 仅接收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唤醒词"小英"、语音指令、数字识别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01C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语音合成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SYN6288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UART4 PC10 · 9600 · 仅发送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中文 TTS 语音播报、操作提示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01C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显示屏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ST7796S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软件SPI PA5/6/7 · CS=PA4 · 5V供电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4寸 480x320 LCD · RGB565 菜单界面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01C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触摸屏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XPT2046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软件SPI PE7/8/9 · CS=PA0 · IRQ=PA1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电阻触摸输入 · 6位取件码软键盘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01C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IO扩展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PCF8574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I2C1 PB6/PB7 · 30kHz · 地址0x20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P4~P7 门磁状态反馈输入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01C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锁控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4路电磁锁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GPIO PB8/9/12/13 · 低电平触发 · 12V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4格柜门开关 · 通电时限2s保护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01C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电源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12V→5V→3.3V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开关电源 + LM2596 降压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电磁锁12V · 模块5V · MCU 3.3V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04 / 15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主控与电源设计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STM32F407VE 主控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41500"/>
            <a:ext cx="5588000" cy="196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内核与主频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：ARM Cortex-M4，168MHz，带 FPU 浮点运算单元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存储资源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：512KB Flash，192KB SRAM，满足多模块驱动与状态机调度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外设资源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：3路 USART + 1路 UART、I2C、SPI、多路 GPIO，同时驱动 9 个外设模块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软件架构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：非阻塞状态机 + 环形缓冲中断，主循环 5ms Tick 调度各模块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0005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三级电源设计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483100"/>
            <a:ext cx="1651000" cy="635000"/>
          </a:xfrm>
          <a:prstGeom prst="roundRect">
            <a:avLst>
              <a:gd name="adj" fmla="val 8000"/>
            </a:avLst>
          </a:prstGeom>
          <a:solidFill>
            <a:srgbClr val="003087">
              <a:alpha val="10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6101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12V 开关电源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电磁锁供电</a:t>
            </a:r>
          </a:p>
        </p:txBody>
      </p:sp>
      <p:cxnSp>
        <p:nvCxnSpPr>
          <p:cNvPr name="Connector 10" id="10"/>
          <p:cNvCxnSpPr/>
          <p:nvPr/>
        </p:nvCxnSpPr>
        <p:spPr>
          <a:xfrm rot="-114549" flipH="false" flipV="false">
            <a:off x="2413106" y="47942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2794000" y="4483100"/>
            <a:ext cx="1651000" cy="635000"/>
          </a:xfrm>
          <a:prstGeom prst="roundRect">
            <a:avLst>
              <a:gd name="adj" fmla="val 8000"/>
            </a:avLst>
          </a:prstGeom>
          <a:solidFill>
            <a:srgbClr val="0070BA">
              <a:alpha val="1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794000" y="46101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LM2596 降 5V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LCD/语音/触摸模块</a:t>
            </a:r>
          </a:p>
        </p:txBody>
      </p:sp>
      <p:cxnSp>
        <p:nvCxnSpPr>
          <p:cNvPr name="Connector 13" id="13"/>
          <p:cNvCxnSpPr/>
          <p:nvPr/>
        </p:nvCxnSpPr>
        <p:spPr>
          <a:xfrm rot="-114549" flipH="false" flipV="false">
            <a:off x="4445106" y="47942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826000" y="44831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0070BA">
              <a:alpha val="15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826000" y="46101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AMS1117 3.3V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MCU / PCF8574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397500"/>
            <a:ext cx="558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电磁锁启动瞬间电流大，独立 12V 供电避免拉低 MCU 电压；LCD 需 5V 供电（板载 74HC245 电平转换），3.3V 会导致数据截断。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858000" y="60706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图：12V 开关电源 + LM2596 降压模块实物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05 / 15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语音交互：识别 + 合成双模块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LD3320 语音识别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41500"/>
            <a:ext cx="558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硬件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：LD3320 芯片 + 板载 STC11 单片机，识别运行在 STC11 固件中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接口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：USART2 PA2/PA3，9600 8N1，STM32 仅接收识别结果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功能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：唤醒词"小英"、语音指令（投件/取件/查件）、数字 0-9 识别输入取件码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优化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："零"与"6"易混淆，改用"洞"代替零；识别阈值用默认值避免过度灵敏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6830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SYN6288 语音合成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27500"/>
            <a:ext cx="558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接口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：UART4 PC10（TX），9600 8N1，STM32 仅发送，模块自动播报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功能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：中文 TTS 语音播报，操作引导、取件码朗读、AI 回复实时朗读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：外接 8Ω 扬声器，音量可调，无需额外功放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优化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：多音字和生僻词用拼音替代，避免发音错误；播报队列非阻塞，不影响主循环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858000" y="50546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图：LCD 取件码界面 + LD3320 语音识别模块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858000" y="5461000"/>
            <a:ext cx="4572000" cy="635000"/>
          </a:xfrm>
          <a:prstGeom prst="roundRect">
            <a:avLst>
              <a:gd name="adj" fmla="val 12000"/>
            </a:avLst>
          </a:prstGeom>
          <a:solidFill>
            <a:srgbClr val="003087">
              <a:alpha val="6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048500" y="55880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语音全流程</a:t>
            </a:r>
            <a:r>
              <a:rPr lang="en-US" b="fals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：说"小英"唤醒 → 语音输入指令/取件码 → LD3320识别 → 主控处理 → SYN6288播报结果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06 / 15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锁控与安全：4 路电磁锁 + 门磁反馈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电磁锁驱动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41500"/>
            <a:ext cx="5080000" cy="222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锁体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：4 路 12V 电磁锁，NO 常开型，通电吸合开门，断电解锁关门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驱动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：STM32 GPIO 直驱继电器模块，PB8/PB9/PB12/PB13，低电平触发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映射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：锁1→PB8，锁2→PB9，锁3→PB12，锁4→PB13，FT 5V 容忍引脚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备选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：支持 PCF8574 P0~P3 驱动模式（宏切换），5V 供电更稳定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2545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门磁反馈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6990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检测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：PCF8574 P4~P7 输入，每路对应一个柜门的门磁开关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状态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：低电平=柜门已关/门磁吸合，高电平=柜门打开/门磁分离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用途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：开门确认、关门检测、超时报警、投件/取件状态机流转依据</a:t>
            </a:r>
          </a:p>
        </p:txBody>
      </p:sp>
      <p:cxnSp>
        <p:nvCxnSpPr>
          <p:cNvPr name="Connector 9" id="9"/>
          <p:cNvCxnSpPr/>
          <p:nvPr/>
        </p:nvCxnSpPr>
        <p:spPr>
          <a:xfrm rot="5390450" flipH="false" flipV="false">
            <a:off x="3937000" y="3676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604000" y="1397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三重安全保护机制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1905000"/>
            <a:ext cx="4826000" cy="1016000"/>
          </a:xfrm>
          <a:prstGeom prst="roundRect">
            <a:avLst>
              <a:gd name="adj" fmla="val 7500"/>
            </a:avLst>
          </a:prstGeom>
          <a:solidFill>
            <a:srgbClr val="C9302C">
              <a:alpha val="6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94500" y="20320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01 通电时限保护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794500" y="2362200"/>
            <a:ext cx="444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电磁锁通电 2 秒后 Lock_Tick 自动断电；编译期 #error 强制时限 &lt; 3 秒，防止线圈过热烧毁。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3111500"/>
            <a:ext cx="4826000" cy="1016000"/>
          </a:xfrm>
          <a:prstGeom prst="roundRect">
            <a:avLst>
              <a:gd name="adj" fmla="val 7500"/>
            </a:avLst>
          </a:prstGeom>
          <a:solidFill>
            <a:srgbClr val="003087">
              <a:alpha val="6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94500" y="32385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02 四路互斥锁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94500" y="3568700"/>
            <a:ext cx="444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同一时间只允许 1 个电磁锁通电，避免 12V 电源过载；新锁打开前自动关闭其他所有锁。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4318000"/>
            <a:ext cx="4826000" cy="1016000"/>
          </a:xfrm>
          <a:prstGeom prst="roundRect">
            <a:avLst>
              <a:gd name="adj" fmla="val 7500"/>
            </a:avLst>
          </a:prstGeom>
          <a:solidFill>
            <a:srgbClr val="0070BA">
              <a:alpha val="6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94500" y="44450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03 I2C 通信容错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94500" y="4775200"/>
            <a:ext cx="444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PCF8574 写入失败自动重试 3 次；读取门磁超时返回错误码，状态机降级处理，不影响其他柜门。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5524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每柜门独立状态机追踪开门/关门/超时，数组化设计支持并发取件不串柜。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07 / 15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人机交互：4 寸 LCD 触摸屏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显示与触摸硬件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415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显示屏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：ST7796S 控制器，4 寸 480x320，RGB565 16 位色，软件 SPI 驱动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LCD 引脚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：CS=PA4，DC=PB0，RST=PB1，BLK=PB2，SCK=PA5，MOSI=PA7，VCC 必须 5V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触摸屏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：XPT2046 电阻触摸，独立软件 SPI 总线，T_CS=PA0，T_IRQ=PA1，T_CLK=PE7，T_DIN=PE8，T_DO=PE9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5560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界面功能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000500"/>
            <a:ext cx="533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主菜单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：4 格口状态卡片（占用/空闲、门关/门开），投件/取件/记录三大功能按钮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取件码输入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：4x3 数字软键盘（1-9、删除、0、确认），6 位取件码实时显示，支持语音注入数字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状态栏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：格口占用状态、当前时间、语音提示条、取件码状态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交互方式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：触摸点击 + 语音指令双输入，操作结果语音播报 + 屏幕提示双反馈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6070600"/>
            <a:ext cx="482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图：亚克力柜体 + LCD 主菜单界面（格口状态 + 投件/取件按钮）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08 / 15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业务工作流程：投件与取件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投件流程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41500"/>
            <a:ext cx="2159000" cy="762000"/>
          </a:xfrm>
          <a:prstGeom prst="roundRect">
            <a:avLst>
              <a:gd name="adj" fmla="val 6666"/>
            </a:avLst>
          </a:prstGeom>
          <a:solidFill>
            <a:srgbClr val="003087">
              <a:alpha val="8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1930400"/>
            <a:ext cx="203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柜机端输入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手机尾号</a:t>
            </a:r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触摸 / 语音</a:t>
            </a:r>
          </a:p>
        </p:txBody>
      </p:sp>
      <p:cxnSp>
        <p:nvCxnSpPr>
          <p:cNvPr name="Connector 8" id="8"/>
          <p:cNvCxnSpPr/>
          <p:nvPr/>
        </p:nvCxnSpPr>
        <p:spPr>
          <a:xfrm rot="-114549" flipH="false" flipV="false">
            <a:off x="2921106" y="2216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3302000" y="1841500"/>
            <a:ext cx="2159000" cy="762000"/>
          </a:xfrm>
          <a:prstGeom prst="roundRect">
            <a:avLst>
              <a:gd name="adj" fmla="val 6666"/>
            </a:avLst>
          </a:prstGeom>
          <a:solidFill>
            <a:srgbClr val="003087">
              <a:alpha val="8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65500" y="1930400"/>
            <a:ext cx="203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本地生成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6 位取件码</a:t>
            </a:r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Flash 持久化</a:t>
            </a:r>
          </a:p>
        </p:txBody>
      </p:sp>
      <p:cxnSp>
        <p:nvCxnSpPr>
          <p:cNvPr name="Connector 11" id="11"/>
          <p:cNvCxnSpPr/>
          <p:nvPr/>
        </p:nvCxnSpPr>
        <p:spPr>
          <a:xfrm rot="-114549" flipH="false" flipV="false">
            <a:off x="5461106" y="2216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842000" y="1841500"/>
            <a:ext cx="2159000" cy="762000"/>
          </a:xfrm>
          <a:prstGeom prst="roundRect">
            <a:avLst>
              <a:gd name="adj" fmla="val 6666"/>
            </a:avLst>
          </a:prstGeom>
          <a:solidFill>
            <a:srgbClr val="0070BA">
              <a:alpha val="1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905500" y="1930400"/>
            <a:ext cx="203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电磁锁开门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2s 自动断电</a:t>
            </a:r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语音播报引导</a:t>
            </a:r>
          </a:p>
        </p:txBody>
      </p:sp>
      <p:cxnSp>
        <p:nvCxnSpPr>
          <p:cNvPr name="Connector 14" id="14"/>
          <p:cNvCxnSpPr/>
          <p:nvPr/>
        </p:nvCxnSpPr>
        <p:spPr>
          <a:xfrm rot="-114549" flipH="false" flipV="false">
            <a:off x="8001106" y="2216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8382000" y="1841500"/>
            <a:ext cx="2159000" cy="762000"/>
          </a:xfrm>
          <a:prstGeom prst="roundRect">
            <a:avLst>
              <a:gd name="adj" fmla="val 6666"/>
            </a:avLst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45500" y="1930400"/>
            <a:ext cx="203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放入快递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关门确认</a:t>
            </a:r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状态 = 占用</a:t>
            </a:r>
          </a:p>
        </p:txBody>
      </p:sp>
      <p:cxnSp>
        <p:nvCxnSpPr>
          <p:cNvPr name="Connector 17" id="17"/>
          <p:cNvCxnSpPr/>
          <p:nvPr/>
        </p:nvCxnSpPr>
        <p:spPr>
          <a:xfrm rot="-4092" flipH="false" flipV="false">
            <a:off x="762004" y="2851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762000" y="3048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取件流程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3530600"/>
            <a:ext cx="2159000" cy="762000"/>
          </a:xfrm>
          <a:prstGeom prst="roundRect">
            <a:avLst>
              <a:gd name="adj" fmla="val 6666"/>
            </a:avLst>
          </a:prstGeom>
          <a:solidFill>
            <a:srgbClr val="003087">
              <a:alpha val="8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" y="3619500"/>
            <a:ext cx="203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输入取件码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触摸软键盘</a:t>
            </a:r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或语音数字</a:t>
            </a:r>
          </a:p>
        </p:txBody>
      </p:sp>
      <p:cxnSp>
        <p:nvCxnSpPr>
          <p:cNvPr name="Connector 21" id="21"/>
          <p:cNvCxnSpPr/>
          <p:nvPr/>
        </p:nvCxnSpPr>
        <p:spPr>
          <a:xfrm rot="-114549" flipH="false" flipV="false">
            <a:off x="2921106" y="39052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3302000" y="3530600"/>
            <a:ext cx="2159000" cy="762000"/>
          </a:xfrm>
          <a:prstGeom prst="roundRect">
            <a:avLst>
              <a:gd name="adj" fmla="val 6666"/>
            </a:avLst>
          </a:prstGeom>
          <a:solidFill>
            <a:srgbClr val="003087">
              <a:alpha val="8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365500" y="3619500"/>
            <a:ext cx="203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本地校验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取件码有效性</a:t>
            </a:r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匹配柜口号</a:t>
            </a:r>
          </a:p>
        </p:txBody>
      </p:sp>
      <p:cxnSp>
        <p:nvCxnSpPr>
          <p:cNvPr name="Connector 24" id="24"/>
          <p:cNvCxnSpPr/>
          <p:nvPr/>
        </p:nvCxnSpPr>
        <p:spPr>
          <a:xfrm rot="-114549" flipH="false" flipV="false">
            <a:off x="5461106" y="39052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5842000" y="3530600"/>
            <a:ext cx="2159000" cy="762000"/>
          </a:xfrm>
          <a:prstGeom prst="roundRect">
            <a:avLst>
              <a:gd name="adj" fmla="val 6666"/>
            </a:avLst>
          </a:prstGeom>
          <a:solidFill>
            <a:srgbClr val="0070BA">
              <a:alpha val="1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905500" y="3619500"/>
            <a:ext cx="203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电磁锁开门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2s 自动断电</a:t>
            </a:r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语音播报引导</a:t>
            </a:r>
          </a:p>
        </p:txBody>
      </p:sp>
      <p:cxnSp>
        <p:nvCxnSpPr>
          <p:cNvPr name="Connector 27" id="27"/>
          <p:cNvCxnSpPr/>
          <p:nvPr/>
        </p:nvCxnSpPr>
        <p:spPr>
          <a:xfrm rot="-114549" flipH="false" flipV="false">
            <a:off x="8001106" y="39052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8382000" y="3530600"/>
            <a:ext cx="2159000" cy="762000"/>
          </a:xfrm>
          <a:prstGeom prst="roundRect">
            <a:avLst>
              <a:gd name="adj" fmla="val 6666"/>
            </a:avLst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445500" y="3619500"/>
            <a:ext cx="203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取走快递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关门清码</a:t>
            </a:r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状态 = 空闲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4572000"/>
            <a:ext cx="1066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：投件和取件共用同一套开门/关门状态机，每柜门独立追踪；门磁反馈作为状态流转的权威依据，超时未关门自动报警并清码；取件码 6 位数字，本地 Flash 持久化存储，断电不丢失；语音输入取件码时"零"用"洞"代替避免与"6"混淆。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09 / 15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调试案例 1：LCD 显示数据截断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5080000" cy="1016000"/>
          </a:xfrm>
          <a:prstGeom prst="roundRect">
            <a:avLst>
              <a:gd name="adj" fmla="val 7500"/>
            </a:avLst>
          </a:prstGeom>
          <a:solidFill>
            <a:srgbClr val="C9302C">
              <a:alpha val="6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4732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现象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18034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ST7796S 4寸 LCD 屏 VCC 接 3.3V 时，显示数据被截断：上半部分正常，下半部分花屏或不显示，颜色失真。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540000"/>
            <a:ext cx="5080000" cy="1625600"/>
          </a:xfrm>
          <a:prstGeom prst="roundRect">
            <a:avLst>
              <a:gd name="adj" fmla="val 4687"/>
            </a:avLst>
          </a:prstGeom>
          <a:solidFill>
            <a:srgbClr val="003087">
              <a:alpha val="6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6416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根因分析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2971800"/>
            <a:ext cx="4699000" cy="1117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LCD 模块板载 74HC245 电平转换芯片，用于将 STM32 的 3.3V SPI 信号转换为 LCD 控制器所需的 5V 逻辑电平。74HC245 的 VCC 引脚与 LCD 的 VCC 共用，当 VCC=3.3V 时，74HC245 输出高电平仅约 2.8V，低于 ST7796S 的输入高电平阈值（约 0.7*VCC=3.5V），导致部分数据信号被判定为低电平，显示数据截断。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216400"/>
            <a:ext cx="5080000" cy="1778000"/>
          </a:xfrm>
          <a:prstGeom prst="roundRect">
            <a:avLst>
              <a:gd name="adj" fmla="val 4285"/>
            </a:avLst>
          </a:prstGeom>
          <a:solidFill>
            <a:srgbClr val="4C7A5A">
              <a:alpha val="8000"/>
            </a:srgbClr>
          </a:solidFill>
          <a:ln w="12700" cmpd="sng" cap="flat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318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46482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 LCD 模块 VCC 从 3.3V 改接 5V 供电。74HC245 在 5V 供电下输出高电平约 4.5V，满足 ST7796S 输入高电平阈值，SPI 数据信号完整传输。修改后全屏显示正常，颜色准确，480x320 分辨率无截断。注意：STM32 的 SPI 引脚仍为 3.3V 输出，74HC245 完成电平转换，无需额外电路。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390555" flipH="false" flipV="false">
            <a:off x="3911600" y="3676659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04000" y="1371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电平链路示意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1879600"/>
            <a:ext cx="1270000" cy="508000"/>
          </a:xfrm>
          <a:prstGeom prst="roundRect">
            <a:avLst>
              <a:gd name="adj" fmla="val 7500"/>
            </a:avLst>
          </a:prstGeom>
          <a:solidFill>
            <a:srgbClr val="0070BA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19431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STM32 3.3V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SPI 输出</a:t>
            </a:r>
          </a:p>
        </p:txBody>
      </p:sp>
      <p:cxnSp>
        <p:nvCxnSpPr>
          <p:cNvPr name="Connector 18" id="18"/>
          <p:cNvCxnSpPr/>
          <p:nvPr/>
        </p:nvCxnSpPr>
        <p:spPr>
          <a:xfrm rot="-114549" flipH="false" flipV="false">
            <a:off x="7874106" y="21272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255000" y="1879600"/>
            <a:ext cx="1524000" cy="508000"/>
          </a:xfrm>
          <a:prstGeom prst="roundRect">
            <a:avLst>
              <a:gd name="adj" fmla="val 7500"/>
            </a:avLst>
          </a:prstGeom>
          <a:solidFill>
            <a:srgbClr val="C9302C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0" y="19431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74HC245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电平转换</a:t>
            </a:r>
          </a:p>
        </p:txBody>
      </p:sp>
      <p:cxnSp>
        <p:nvCxnSpPr>
          <p:cNvPr name="Connector 21" id="21"/>
          <p:cNvCxnSpPr/>
          <p:nvPr/>
        </p:nvCxnSpPr>
        <p:spPr>
          <a:xfrm rot="-114549" flipH="false" flipV="false">
            <a:off x="9779106" y="21272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10160000" y="1879600"/>
            <a:ext cx="1016000" cy="508000"/>
          </a:xfrm>
          <a:prstGeom prst="roundRect">
            <a:avLst>
              <a:gd name="adj" fmla="val 7500"/>
            </a:avLst>
          </a:prstGeom>
          <a:solidFill>
            <a:srgbClr val="4C7A5A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0" y="19431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ST7796S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5V 逻辑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04000" y="2667000"/>
            <a:ext cx="4572000" cy="762000"/>
          </a:xfrm>
          <a:prstGeom prst="roundRect">
            <a:avLst>
              <a:gd name="adj" fmla="val 6666"/>
            </a:avLst>
          </a:prstGeom>
          <a:solidFill>
            <a:srgbClr val="C9302C">
              <a:alpha val="8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31000" y="2768600"/>
            <a:ext cx="431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3.3V 供电时：74HC245 输出仅 2.8V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低于 ST7796S 阈值 3.5V → 数据截断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04000" y="3556000"/>
            <a:ext cx="4572000" cy="762000"/>
          </a:xfrm>
          <a:prstGeom prst="roundRect">
            <a:avLst>
              <a:gd name="adj" fmla="val 6666"/>
            </a:avLst>
          </a:prstGeom>
          <a:solidFill>
            <a:srgbClr val="4C7A5A">
              <a:alpha val="8000"/>
            </a:srgbClr>
          </a:solidFill>
          <a:ln w="12700" cmpd="sng" cap="flat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731000" y="3657600"/>
            <a:ext cx="431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5V 供电时：74HC245 输出 4.5V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满足阈值 → 数据完整，全屏正常显示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04000" y="457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经验总结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604000" y="49276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硬件第一性原理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：遇到显示异常先查供电电压，再查信号时序，最后查软件驱动。供电是嵌入式系统的基础。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电平转换不可忽视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：3.3V 与 5V 器件混接时必须确认电平转换芯片的供电和输出阈值，不能想当然认为"能通信就行"。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模块 datasheet 必读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：ST7796S 模块规格书明确标注 VCC=5V，忽略这一点会浪费大量时间排查软件问题。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10 / 15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调试案例 2：STC11 模块烧录后不运行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5080000" cy="914400"/>
          </a:xfrm>
          <a:prstGeom prst="roundRect">
            <a:avLst>
              <a:gd name="adj" fmla="val 8333"/>
            </a:avLst>
          </a:prstGeom>
          <a:solidFill>
            <a:srgbClr val="C9302C">
              <a:alpha val="6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4732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现象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1778000"/>
            <a:ext cx="469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STC-ISP 提示烧录成功，但拔掉烧录线后模块 D2 LED 不闪烁，串口无任何输出，代码完全不执行。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38400"/>
            <a:ext cx="5080000" cy="1854200"/>
          </a:xfrm>
          <a:prstGeom prst="roundRect">
            <a:avLst>
              <a:gd name="adj" fmla="val 4109"/>
            </a:avLst>
          </a:prstGeom>
          <a:solidFill>
            <a:srgbClr val="003087">
              <a:alpha val="6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5400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排查过程（走了 4 步弯路）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2844800"/>
            <a:ext cx="4699000" cy="1346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① 怀疑代码 bug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→ 用最简 LED 闪烁程序测试，仍不运行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② 怀疑晶振不起振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→ 从外部 22.1184MHz 改内部 IRC，仍不运行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③ 怀疑 TX/RX 接反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→ 交换接线，仍不运行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④ 测量供电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→ 发现关键问题：适配器输出 5.0V，模块端实测仅 3.3V，压降 1.7V！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445000"/>
            <a:ext cx="5080000" cy="1549400"/>
          </a:xfrm>
          <a:prstGeom prst="roundRect">
            <a:avLst>
              <a:gd name="adj" fmla="val 4918"/>
            </a:avLst>
          </a:prstGeom>
          <a:solidFill>
            <a:srgbClr val="4C7A5A">
              <a:alpha val="8000"/>
            </a:srgbClr>
          </a:solidFill>
          <a:ln w="12700" cmpd="sng" cap="flat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5466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根因与解决方案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4851400"/>
            <a:ext cx="4699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根因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：USB 转串口适配器 5V 输出电流仅 100~300mA，而 LD3320 + STC11 满载需 500mA+，启动瞬间电流尖峰导致电压压降到 3.3V，STC11 处于临界电压反复复位。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方案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：改用独立 5V 1A+ 电源（手机充电器），模块 VCC 实测稳定 4.9V，D2 LED 立即开始闪烁，代码正常运行。</a:t>
            </a:r>
          </a:p>
        </p:txBody>
      </p:sp>
      <p:cxnSp>
        <p:nvCxnSpPr>
          <p:cNvPr name="Connector 14" id="14"/>
          <p:cNvCxnSpPr/>
          <p:nvPr/>
        </p:nvCxnSpPr>
        <p:spPr>
          <a:xfrm rot="5390555" flipH="false" flipV="false">
            <a:off x="3911600" y="3676659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04000" y="1371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供电链路对比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1879600"/>
            <a:ext cx="4826000" cy="1371600"/>
          </a:xfrm>
          <a:prstGeom prst="roundRect">
            <a:avLst>
              <a:gd name="adj" fmla="val 5555"/>
            </a:avLst>
          </a:prstGeom>
          <a:solidFill>
            <a:srgbClr val="C9302C">
              <a:alpha val="6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94500" y="1981200"/>
            <a:ext cx="444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错误方案：USB 适配器供电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94500" y="2311400"/>
            <a:ext cx="4445000" cy="863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适配器输出 5.0V / 300mA → 线缆压降 → 模块端实测 3.3V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STC11 工作电压 3.3~5.5V，临界值运行不稳定 → 反复复位 / 卡死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结果：烧录成功但代码不运行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3352800"/>
            <a:ext cx="4826000" cy="1371600"/>
          </a:xfrm>
          <a:prstGeom prst="roundRect">
            <a:avLst>
              <a:gd name="adj" fmla="val 5555"/>
            </a:avLst>
          </a:prstGeom>
          <a:solidFill>
            <a:srgbClr val="4C7A5A">
              <a:alpha val="8000"/>
            </a:srgbClr>
          </a:solidFill>
          <a:ln w="12700" cmpd="sng" cap="flat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94500" y="3454400"/>
            <a:ext cx="444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正确方案：独立 5V 1A 电源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94500" y="3784600"/>
            <a:ext cx="4445000" cy="863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手机充电器输出 5.0V / 1A → 线缆压降可忽略 → 模块端实测 4.9V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STC11 工作在额定电压区间，启动电流尖峰有足够余量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结果：D2 LED 闪烁，代码正常运行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04000" y="48768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经验总结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04000" y="51562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硬件调试第一性原理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：遇到"烧录成功但不运行"，先量电压再查代码。供电是嵌入式系统最基础也最容易被忽略的环节。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电流余量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：电源额定电流应至少为模块满载电流的 2 倍，预留启动尖峰余量。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11 / 15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调试案例 3：4 柜格"串柜"状态覆盖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5080000" cy="914400"/>
          </a:xfrm>
          <a:prstGeom prst="roundRect">
            <a:avLst>
              <a:gd name="adj" fmla="val 8333"/>
            </a:avLst>
          </a:prstGeom>
          <a:solidFill>
            <a:srgbClr val="C9302C">
              <a:alpha val="6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4732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现象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1778000"/>
            <a:ext cx="469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A 取 box2 未关门时，用户 B 取 box3，box3 关门事件错误结算 box2，导致 box2 永久卡死无法再投件。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38400"/>
            <a:ext cx="5080000" cy="1524000"/>
          </a:xfrm>
          <a:prstGeom prst="roundRect">
            <a:avLst>
              <a:gd name="adj" fmla="val 5000"/>
            </a:avLst>
          </a:prstGeom>
          <a:solidFill>
            <a:srgbClr val="003087">
              <a:alpha val="6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5400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根因分析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2844800"/>
            <a:ext cx="46990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原设计用单一全局变量追踪柜门状态（门阶段、开门时刻、流程类型、消抖计数器），4 个柜格共用同一组变量。第二个用户取件时，新柜门的状态直接覆盖旧柜门，旧柜门的关门检测和超时判断全部丢失。单用户测试无法暴露此问题，只有并发取件场景才会触发。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14800"/>
            <a:ext cx="5080000" cy="1879600"/>
          </a:xfrm>
          <a:prstGeom prst="roundRect">
            <a:avLst>
              <a:gd name="adj" fmla="val 4054"/>
            </a:avLst>
          </a:prstGeom>
          <a:solidFill>
            <a:srgbClr val="4C7A5A">
              <a:alpha val="8000"/>
            </a:srgbClr>
          </a:solidFill>
          <a:ln w="12700" cmpd="sng" cap="flat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2164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解决方案：每柜独立状态机数组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4521200"/>
            <a:ext cx="469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将所有柜门状态变量改为 [BOX_COUNT] 数组，每柜独立维护：门阶段（IDLE/W_OPEN/W_CLOSE/DONE）、流程类型（投件/取件）、消抖计数器、开门时刻。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Door_Tick 遍历每柜独立判断，box2 和 box3 各自独立结算，互不干扰。每柜独立超时判断，超时未关门自动清码并报警。修改后并发取件 100 次无串柜。</a:t>
            </a:r>
          </a:p>
        </p:txBody>
      </p:sp>
      <p:cxnSp>
        <p:nvCxnSpPr>
          <p:cNvPr name="Connector 14" id="14"/>
          <p:cNvCxnSpPr/>
          <p:nvPr/>
        </p:nvCxnSpPr>
        <p:spPr>
          <a:xfrm rot="5390555" flipH="false" flipV="false">
            <a:off x="3911600" y="3676659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04000" y="1371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状态机对比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1879600"/>
            <a:ext cx="4826000" cy="1524000"/>
          </a:xfrm>
          <a:prstGeom prst="roundRect">
            <a:avLst>
              <a:gd name="adj" fmla="val 5000"/>
            </a:avLst>
          </a:prstGeom>
          <a:solidFill>
            <a:srgbClr val="C9302C">
              <a:alpha val="6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94500" y="1981200"/>
            <a:ext cx="444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错误：单一全局变量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94500" y="23114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A 取 box2 → s_door_phase = W_CLOSE（box2）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B 取 box3 → s_door_phase = W_OPEN（覆盖 box2！）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box3 关门 → 错误结算 box2，box2 状态丢失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结果：box2 永久卡死，无法再投件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35560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4C7A5A">
              <a:alpha val="8000"/>
            </a:srgbClr>
          </a:solidFill>
          <a:ln w="12700" cmpd="sng" cap="flat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94500" y="3657600"/>
            <a:ext cx="444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正确：[BOX_COUNT] 数组化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94500" y="3987800"/>
            <a:ext cx="444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A 取 box2 → s_door_phase[1] = W_CLOSE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B 取 box3 → s_door_phase[2] = W_OPEN（独立！）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box3 关门 → 结算 s_door_phase[2]，box2 不受影响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结果：4 柜格并行独立，并发取件无串柜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04000" y="5080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经验总结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04000" y="54102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多实例并发场景下，单变量状态机必然失效。状态变量必须按实例数组化，每实例独立生命周期。单用户测试通过不等于系统正确，必须做并发压力测试。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12 / 15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12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系统测试与实物演示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4470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图：亚克力 4 格柜体 + 继电器 + LCD 主菜单 + 语音模块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60452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图：LCD 取件码输入界面 + LD3320 语音识别模块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371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功能测试结果</a:t>
            </a:r>
            <a:endParaRPr lang="en-US" sz="1100"/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350000" y="1841500"/>
          <a:ext cx="508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2032000"/>
                <a:gridCol w="762000"/>
                <a:gridCol w="762000"/>
              </a:tblGrid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次数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投件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H5 输入尾号→生成码→开门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触摸取件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 位码输入→校验→开门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语音取件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唤醒→报数字→开门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93%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并发取件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两柜同时取件不串柜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H5 按尾号/取件码查询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超时报警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开门 30s 未关自动清码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6350000" y="5588000"/>
            <a:ext cx="508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测试结论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：核心业务功能（投件/取件/查件）通过率 100%，语音交互受环境噪声影响约 93%。系统整体稳定，满足毕设演示要求。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13 / 15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13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5588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创新点与系统总结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460500"/>
            <a:ext cx="2540000" cy="2032000"/>
          </a:xfrm>
          <a:prstGeom prst="roundRect">
            <a:avLst>
              <a:gd name="adj" fmla="val 3750"/>
            </a:avLst>
          </a:prstGeom>
          <a:solidFill>
            <a:srgbClr val="003087">
              <a:alpha val="4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625600"/>
            <a:ext cx="50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159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双模态人机交互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5146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LD3320 语音识别 + XPT2046 电阻触摸双输入，SYN6288 语音合成 + LCD 显示双反馈，支持语音输入取件码。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1460500"/>
            <a:ext cx="2540000" cy="2032000"/>
          </a:xfrm>
          <a:prstGeom prst="roundRect">
            <a:avLst>
              <a:gd name="adj" fmla="val 3750"/>
            </a:avLst>
          </a:prstGeom>
          <a:solidFill>
            <a:srgbClr val="003087">
              <a:alpha val="4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746500" y="1625600"/>
            <a:ext cx="50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46500" y="2159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并发状态机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746500" y="25146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每柜独立 [BOX_COUNT] 状态数组，4 格口并行独立追踪，支持并发取件不串柜，门磁反馈作权威状态依据。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460500"/>
            <a:ext cx="2540000" cy="2032000"/>
          </a:xfrm>
          <a:prstGeom prst="roundRect">
            <a:avLst>
              <a:gd name="adj" fmla="val 3750"/>
            </a:avLst>
          </a:prstGeom>
          <a:solidFill>
            <a:srgbClr val="003087">
              <a:alpha val="4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40500" y="1625600"/>
            <a:ext cx="50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2159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本地持久化存储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40500" y="25146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取件码与手机尾号存入内部 Flash，上电自动加载，断电不丢失；GBK 编码适配中文 TTS，字库内用字避免乱码。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144000" y="1460500"/>
            <a:ext cx="2286000" cy="2032000"/>
          </a:xfrm>
          <a:prstGeom prst="roundRect">
            <a:avLst>
              <a:gd name="adj" fmla="val 3750"/>
            </a:avLst>
          </a:prstGeom>
          <a:solidFill>
            <a:srgbClr val="003087">
              <a:alpha val="4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334500" y="1625600"/>
            <a:ext cx="50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34500" y="21590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非阻塞调度架构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334500" y="2514600"/>
            <a:ext cx="190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主循环轮询各模块 Tick，中断只入队环形缓冲不阻塞，9 个外设并行响应无延迟，确保语音识别实时性。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092" flipH="false" flipV="false">
            <a:off x="762004" y="380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762000" y="40640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系统总结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5085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硬件层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：STM32F407VE 主控，4 路电磁锁 + 门磁反馈，LCD 触摸屏，LD3320 + SYN6288 语音交互，PCF8574 IO 扩展，12V 电源 + LM2596 降压。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固件层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：模块化驱动设计，环形缓冲中断接收，每柜独立状态机，非阻塞主循环调度，GBK 编码适配中文 TTS。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50000" y="45085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应用层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：投件/取件/查件三大核心功能，语音唤醒 + 关键词指令，触摸软键盘输入，本地取件码校验，语音播报全程引导。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完成度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：投件/取件/查件三大核心功能全部实现并通过测试，硬件实物可演示，满足毕设答辩要求。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6350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智能快递柜系统 · 14 / 15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已完成工作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95500"/>
            <a:ext cx="508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硬件系统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：STM32F407VE 主控 + 4 格电磁锁柜 + LCD 触摸屏 + 语音识别合成 + PCF8574 IO 扩展，亚克力柜体实物可演示。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固件开发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：模块化驱动，环形缓冲中断接收，每柜独立状态机，非阻塞主循环调度，GBK 编码中文 TTS。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应用功能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：投件/取件/查件三大核心功能，语音唤醒 + 关键词指令，触摸软键盘输入，本地取件码校验，语音播报全程引导。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调试优化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：解决 ISR 阻塞丢数据、供电不足不启动、并发取件串柜三大工程问题，系统稳定可靠。</a:t>
            </a:r>
          </a:p>
        </p:txBody>
      </p:sp>
      <p:cxnSp>
        <p:nvCxnSpPr>
          <p:cNvPr name="Connector 7" id="7"/>
          <p:cNvCxnSpPr/>
          <p:nvPr/>
        </p:nvCxnSpPr>
        <p:spPr>
          <a:xfrm rot="5388540" flipH="false" flipV="false">
            <a:off x="4318000" y="3549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604000" y="1651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未来改进方向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2095500"/>
            <a:ext cx="4826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规模化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：扩展至 12/24 格口，增加格口状态 LED 指示灯，支持多柜机分布式部署。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智能化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：增加人脸识别取件，摄像头扫码取件，智能助手深度集成快递查询功能。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信息化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：完善本地数据管理，增加操作日志记录、取件统计分析、异常告警历史，支持数据导出与追溯。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：增加 OTA 固件远程升级，异常自动重启看门狗，数据加密传输，完善日志系统。</a:t>
            </a:r>
          </a:p>
        </p:txBody>
      </p:sp>
      <p:cxnSp>
        <p:nvCxnSpPr>
          <p:cNvPr name="Connector 10" id="10"/>
          <p:cNvCxnSpPr/>
          <p:nvPr/>
        </p:nvCxnSpPr>
        <p:spPr>
          <a:xfrm rot="-4092" flipH="false" flipV="false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62000" y="5778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感谢各位评委老师的聆听与指导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61595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0A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STM32 的智能快递柜系统设计与实现 · 15 / 15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